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hakra Petch" panose="020B0604020202020204" charset="-34"/>
      <p:regular r:id="rId10"/>
    </p:embeddedFont>
    <p:embeddedFont>
      <p:font typeface="Chakra Petch Bold" panose="020B0604020202020204" charset="-34"/>
      <p:regular r:id="rId11"/>
    </p:embeddedFont>
    <p:embeddedFont>
      <p:font typeface="TT Supermolot Condense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-20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661671" y="1651116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2"/>
                </a:lnTo>
                <a:lnTo>
                  <a:pt x="0" y="12092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831548" y="-2295199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60738" y="3639808"/>
            <a:ext cx="13171870" cy="939746"/>
            <a:chOff x="0" y="0"/>
            <a:chExt cx="3469134" cy="2475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69134" cy="247505"/>
            </a:xfrm>
            <a:custGeom>
              <a:avLst/>
              <a:gdLst/>
              <a:ahLst/>
              <a:cxnLst/>
              <a:rect l="l" t="t" r="r" b="b"/>
              <a:pathLst>
                <a:path w="3469134" h="247505">
                  <a:moveTo>
                    <a:pt x="22923" y="0"/>
                  </a:moveTo>
                  <a:lnTo>
                    <a:pt x="3446212" y="0"/>
                  </a:lnTo>
                  <a:cubicBezTo>
                    <a:pt x="3452291" y="0"/>
                    <a:pt x="3458121" y="2415"/>
                    <a:pt x="3462420" y="6714"/>
                  </a:cubicBezTo>
                  <a:cubicBezTo>
                    <a:pt x="3466719" y="11013"/>
                    <a:pt x="3469134" y="16843"/>
                    <a:pt x="3469134" y="22923"/>
                  </a:cubicBezTo>
                  <a:lnTo>
                    <a:pt x="3469134" y="224582"/>
                  </a:lnTo>
                  <a:cubicBezTo>
                    <a:pt x="3469134" y="230662"/>
                    <a:pt x="3466719" y="236492"/>
                    <a:pt x="3462420" y="240791"/>
                  </a:cubicBezTo>
                  <a:cubicBezTo>
                    <a:pt x="3458121" y="245090"/>
                    <a:pt x="3452291" y="247505"/>
                    <a:pt x="3446212" y="247505"/>
                  </a:cubicBezTo>
                  <a:lnTo>
                    <a:pt x="22923" y="247505"/>
                  </a:lnTo>
                  <a:cubicBezTo>
                    <a:pt x="10263" y="247505"/>
                    <a:pt x="0" y="237242"/>
                    <a:pt x="0" y="224582"/>
                  </a:cubicBezTo>
                  <a:lnTo>
                    <a:pt x="0" y="22923"/>
                  </a:lnTo>
                  <a:cubicBezTo>
                    <a:pt x="0" y="16843"/>
                    <a:pt x="2415" y="11013"/>
                    <a:pt x="6714" y="6714"/>
                  </a:cubicBezTo>
                  <a:cubicBezTo>
                    <a:pt x="11013" y="2415"/>
                    <a:pt x="16843" y="0"/>
                    <a:pt x="2292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2A5ED">
                    <a:alpha val="100000"/>
                  </a:srgbClr>
                </a:gs>
                <a:gs pos="100000">
                  <a:srgbClr val="78D8F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69134" cy="285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196553" y="4333575"/>
            <a:ext cx="5896206" cy="5896206"/>
          </a:xfrm>
          <a:custGeom>
            <a:avLst/>
            <a:gdLst/>
            <a:ahLst/>
            <a:cxnLst/>
            <a:rect l="l" t="t" r="r" b="b"/>
            <a:pathLst>
              <a:path w="5896206" h="5896206">
                <a:moveTo>
                  <a:pt x="0" y="0"/>
                </a:moveTo>
                <a:lnTo>
                  <a:pt x="5896206" y="0"/>
                </a:lnTo>
                <a:lnTo>
                  <a:pt x="5896206" y="5896206"/>
                </a:lnTo>
                <a:lnTo>
                  <a:pt x="0" y="589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2835874" y="4972896"/>
            <a:ext cx="4931967" cy="49319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976" r="-24976"/>
              </a:stretch>
            </a:blipFill>
            <a:ln w="66675" cap="sq">
              <a:gradFill>
                <a:gsLst>
                  <a:gs pos="0">
                    <a:srgbClr val="72A5ED">
                      <a:alpha val="100000"/>
                    </a:srgbClr>
                  </a:gs>
                  <a:gs pos="100000">
                    <a:srgbClr val="78D8F6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0737" y="7124701"/>
            <a:ext cx="3592285" cy="1708874"/>
            <a:chOff x="0" y="0"/>
            <a:chExt cx="896679" cy="378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6679" cy="378794"/>
            </a:xfrm>
            <a:custGeom>
              <a:avLst/>
              <a:gdLst/>
              <a:ahLst/>
              <a:cxnLst/>
              <a:rect l="l" t="t" r="r" b="b"/>
              <a:pathLst>
                <a:path w="896679" h="378794">
                  <a:moveTo>
                    <a:pt x="88685" y="0"/>
                  </a:moveTo>
                  <a:lnTo>
                    <a:pt x="807994" y="0"/>
                  </a:lnTo>
                  <a:cubicBezTo>
                    <a:pt x="856974" y="0"/>
                    <a:pt x="896679" y="39706"/>
                    <a:pt x="896679" y="88685"/>
                  </a:cubicBezTo>
                  <a:lnTo>
                    <a:pt x="896679" y="290109"/>
                  </a:lnTo>
                  <a:cubicBezTo>
                    <a:pt x="896679" y="313630"/>
                    <a:pt x="887336" y="336187"/>
                    <a:pt x="870704" y="352819"/>
                  </a:cubicBezTo>
                  <a:cubicBezTo>
                    <a:pt x="854072" y="369451"/>
                    <a:pt x="831515" y="378794"/>
                    <a:pt x="807994" y="378794"/>
                  </a:cubicBezTo>
                  <a:lnTo>
                    <a:pt x="88685" y="378794"/>
                  </a:lnTo>
                  <a:cubicBezTo>
                    <a:pt x="39706" y="378794"/>
                    <a:pt x="0" y="339089"/>
                    <a:pt x="0" y="290109"/>
                  </a:cubicBezTo>
                  <a:lnTo>
                    <a:pt x="0" y="88685"/>
                  </a:lnTo>
                  <a:cubicBezTo>
                    <a:pt x="0" y="65164"/>
                    <a:pt x="9344" y="42607"/>
                    <a:pt x="25975" y="25975"/>
                  </a:cubicBezTo>
                  <a:cubicBezTo>
                    <a:pt x="42607" y="9344"/>
                    <a:pt x="65164" y="0"/>
                    <a:pt x="886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8000"/>
                  </a:srgbClr>
                </a:gs>
                <a:gs pos="100000">
                  <a:srgbClr val="FFFFFF">
                    <a:alpha val="4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96679" cy="416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92265" y="5334351"/>
            <a:ext cx="7121517" cy="146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1" spc="-166">
                <a:solidFill>
                  <a:srgbClr val="78D8F6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Affiliations:</a:t>
            </a:r>
          </a:p>
          <a:p>
            <a:pPr algn="l">
              <a:lnSpc>
                <a:spcPts val="3871"/>
              </a:lnSpc>
            </a:pPr>
            <a:r>
              <a:rPr lang="en-US" sz="3199" b="1" spc="-166">
                <a:solidFill>
                  <a:srgbClr val="78D8F6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 Leibniz University Hannover, Germany</a:t>
            </a:r>
          </a:p>
          <a:p>
            <a:pPr algn="l">
              <a:lnSpc>
                <a:spcPts val="3871"/>
              </a:lnSpc>
            </a:pPr>
            <a:r>
              <a:rPr lang="en-US" sz="3199" b="1" spc="-166">
                <a:solidFill>
                  <a:srgbClr val="78D8F6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 University of British Columbia, Canada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738" y="1341985"/>
            <a:ext cx="16322191" cy="221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5"/>
              </a:lnSpc>
            </a:pPr>
            <a:r>
              <a:rPr lang="en-US" sz="8789" b="1" spc="-457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Fully Convolutional Cross-Scale-Flows for Image-based Defect Detection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764279"/>
            <a:ext cx="12903908" cy="1379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10638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Authors:Marco Rudolph, Tom Wehrbein, Bodo Rosenhahn, Bastian Wandt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899" b="1">
              <a:solidFill>
                <a:srgbClr val="010638"/>
              </a:solidFill>
              <a:latin typeface="Chakra Petch Bold"/>
              <a:ea typeface="Chakra Petch Bold"/>
              <a:cs typeface="Chakra Petch Bold"/>
              <a:sym typeface="Chakra Petch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899" b="1">
              <a:solidFill>
                <a:srgbClr val="010638"/>
              </a:solidFill>
              <a:latin typeface="Chakra Petch Bold"/>
              <a:ea typeface="Chakra Petch Bold"/>
              <a:cs typeface="Chakra Petch Bold"/>
              <a:sym typeface="Chakra Petch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86094" y="7346756"/>
            <a:ext cx="3052505" cy="1244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3582" b="1" spc="-186" dirty="0">
                <a:solidFill>
                  <a:srgbClr val="000000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Udara </a:t>
            </a:r>
            <a:r>
              <a:rPr lang="en-US" sz="3582" b="1" spc="-186" dirty="0" err="1">
                <a:solidFill>
                  <a:srgbClr val="000000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Desahan</a:t>
            </a:r>
            <a:endParaRPr lang="en-US" sz="3582" b="1" spc="-186" dirty="0">
              <a:solidFill>
                <a:srgbClr val="000000"/>
              </a:solidFill>
              <a:latin typeface="TT Supermolot Condensed Bold"/>
              <a:ea typeface="TT Supermolot Condensed Bold"/>
              <a:cs typeface="TT Supermolot Condensed Bold"/>
              <a:sym typeface="TT Supermolot Condensed Bold"/>
            </a:endParaRPr>
          </a:p>
          <a:p>
            <a:pPr algn="l">
              <a:lnSpc>
                <a:spcPts val="5015"/>
              </a:lnSpc>
              <a:spcBef>
                <a:spcPct val="0"/>
              </a:spcBef>
            </a:pPr>
            <a:r>
              <a:rPr lang="en-US" sz="3582" b="1" spc="-186" dirty="0">
                <a:solidFill>
                  <a:srgbClr val="000000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Tharusha Nimesh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177281" y="-2649534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98077" y="935202"/>
            <a:ext cx="14308106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-519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 Problem &amp; Motivation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4537" y="3050349"/>
            <a:ext cx="10658979" cy="5608576"/>
            <a:chOff x="0" y="0"/>
            <a:chExt cx="4513135" cy="23747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3135" cy="2374736"/>
            </a:xfrm>
            <a:custGeom>
              <a:avLst/>
              <a:gdLst/>
              <a:ahLst/>
              <a:cxnLst/>
              <a:rect l="l" t="t" r="r" b="b"/>
              <a:pathLst>
                <a:path w="4513135" h="2374736">
                  <a:moveTo>
                    <a:pt x="435311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14716"/>
                  </a:lnTo>
                  <a:lnTo>
                    <a:pt x="160020" y="2374736"/>
                  </a:lnTo>
                  <a:lnTo>
                    <a:pt x="4353115" y="2374736"/>
                  </a:lnTo>
                  <a:lnTo>
                    <a:pt x="4513135" y="2214716"/>
                  </a:lnTo>
                  <a:lnTo>
                    <a:pt x="4513135" y="160020"/>
                  </a:lnTo>
                  <a:lnTo>
                    <a:pt x="4353115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25400"/>
              <a:ext cx="4386135" cy="2285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44098" y="3816232"/>
            <a:ext cx="5964496" cy="4076809"/>
          </a:xfrm>
          <a:custGeom>
            <a:avLst/>
            <a:gdLst/>
            <a:ahLst/>
            <a:cxnLst/>
            <a:rect l="l" t="t" r="r" b="b"/>
            <a:pathLst>
              <a:path w="5964496" h="4076809">
                <a:moveTo>
                  <a:pt x="0" y="0"/>
                </a:moveTo>
                <a:lnTo>
                  <a:pt x="5964496" y="0"/>
                </a:lnTo>
                <a:lnTo>
                  <a:pt x="5964496" y="4076810"/>
                </a:lnTo>
                <a:lnTo>
                  <a:pt x="0" y="4076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25" r="-107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31421" y="3452559"/>
            <a:ext cx="10105209" cy="520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3499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Why Industrial Defect Detection?</a:t>
            </a:r>
          </a:p>
          <a:p>
            <a:pPr algn="l">
              <a:lnSpc>
                <a:spcPts val="5312"/>
              </a:lnSpc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The Challenge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Defects are often unpredictable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Defective samples may be unavailable during training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Manual inspection is costly and error-prone</a:t>
            </a:r>
          </a:p>
          <a:p>
            <a:pPr algn="l">
              <a:lnSpc>
                <a:spcPts val="5312"/>
              </a:lnSpc>
            </a:pPr>
            <a:endParaRPr lang="en-US" sz="3299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algn="l">
              <a:lnSpc>
                <a:spcPts val="4024"/>
              </a:lnSpc>
            </a:pPr>
            <a:endParaRPr lang="en-US" sz="3299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814285" y="-2250347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1" y="0"/>
                </a:lnTo>
                <a:lnTo>
                  <a:pt x="7184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612653" y="2675622"/>
            <a:ext cx="14079371" cy="7248976"/>
            <a:chOff x="0" y="0"/>
            <a:chExt cx="3600962" cy="18540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00962" cy="1854009"/>
            </a:xfrm>
            <a:custGeom>
              <a:avLst/>
              <a:gdLst/>
              <a:ahLst/>
              <a:cxnLst/>
              <a:rect l="l" t="t" r="r" b="b"/>
              <a:pathLst>
                <a:path w="3600962" h="1854009">
                  <a:moveTo>
                    <a:pt x="344094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93989"/>
                  </a:lnTo>
                  <a:lnTo>
                    <a:pt x="160020" y="1854009"/>
                  </a:lnTo>
                  <a:lnTo>
                    <a:pt x="3440942" y="1854009"/>
                  </a:lnTo>
                  <a:lnTo>
                    <a:pt x="3600962" y="1693989"/>
                  </a:lnTo>
                  <a:lnTo>
                    <a:pt x="3600962" y="160020"/>
                  </a:lnTo>
                  <a:lnTo>
                    <a:pt x="3440942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3473962" cy="1765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04326" y="3114193"/>
            <a:ext cx="12716092" cy="795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261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1. Autoencoders / GANs</a:t>
            </a:r>
          </a:p>
          <a:p>
            <a:pPr marL="704118" lvl="1" indent="-352059" algn="l">
              <a:lnSpc>
                <a:spcPts val="5250"/>
              </a:lnSpc>
              <a:buFont typeface="Arial"/>
              <a:buChar char="•"/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Reconstruct normal images</a:t>
            </a:r>
          </a:p>
          <a:p>
            <a:pPr marL="704118" lvl="1" indent="-352059" algn="l">
              <a:lnSpc>
                <a:spcPts val="5250"/>
              </a:lnSpc>
              <a:buFont typeface="Arial"/>
              <a:buChar char="•"/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Use reconstruction error to detect defects</a:t>
            </a:r>
          </a:p>
          <a:p>
            <a:pPr algn="l">
              <a:lnSpc>
                <a:spcPts val="5250"/>
              </a:lnSpc>
            </a:pPr>
            <a:r>
              <a:rPr lang="en-US" sz="3261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2. Pretrained CNN Features</a:t>
            </a:r>
          </a:p>
          <a:p>
            <a:pPr marL="704118" lvl="1" indent="-352059" algn="l">
              <a:lnSpc>
                <a:spcPts val="5250"/>
              </a:lnSpc>
              <a:buFont typeface="Arial"/>
              <a:buChar char="•"/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Extract useful image features</a:t>
            </a:r>
          </a:p>
          <a:p>
            <a:pPr marL="704118" lvl="1" indent="-352059" algn="l">
              <a:lnSpc>
                <a:spcPts val="5250"/>
              </a:lnSpc>
              <a:buFont typeface="Arial"/>
              <a:buChar char="•"/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Pooled features can lose spatial information</a:t>
            </a:r>
          </a:p>
          <a:p>
            <a:pPr algn="l">
              <a:lnSpc>
                <a:spcPts val="5250"/>
              </a:lnSpc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Key Limitation</a:t>
            </a:r>
          </a:p>
          <a:p>
            <a:pPr algn="l">
              <a:lnSpc>
                <a:spcPts val="5250"/>
              </a:lnSpc>
            </a:pPr>
            <a:r>
              <a:rPr lang="en-US" sz="3261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If spatial information is lost, the model may detect a defect but cannot accurately identify where it is located.</a:t>
            </a:r>
          </a:p>
          <a:p>
            <a:pPr algn="l">
              <a:lnSpc>
                <a:spcPts val="5250"/>
              </a:lnSpc>
            </a:pPr>
            <a:endParaRPr lang="en-US" sz="3261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algn="l">
              <a:lnSpc>
                <a:spcPts val="5250"/>
              </a:lnSpc>
            </a:pPr>
            <a:endParaRPr lang="en-US" sz="3261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algn="l">
              <a:lnSpc>
                <a:spcPts val="5250"/>
              </a:lnSpc>
            </a:pPr>
            <a:endParaRPr lang="en-US" sz="3261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3967" y="1054427"/>
            <a:ext cx="16116743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-519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Existing Methods &amp;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852422" y="-2250347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1" y="0"/>
                </a:lnTo>
                <a:lnTo>
                  <a:pt x="7184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39864" y="2536482"/>
            <a:ext cx="12035447" cy="5445592"/>
          </a:xfrm>
          <a:custGeom>
            <a:avLst/>
            <a:gdLst/>
            <a:ahLst/>
            <a:cxnLst/>
            <a:rect l="l" t="t" r="r" b="b"/>
            <a:pathLst>
              <a:path w="12035447" h="5445592">
                <a:moveTo>
                  <a:pt x="0" y="0"/>
                </a:moveTo>
                <a:lnTo>
                  <a:pt x="12035446" y="0"/>
                </a:lnTo>
                <a:lnTo>
                  <a:pt x="12035446" y="5445591"/>
                </a:lnTo>
                <a:lnTo>
                  <a:pt x="0" y="544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534314" y="4024689"/>
            <a:ext cx="4063501" cy="1245413"/>
          </a:xfrm>
          <a:custGeom>
            <a:avLst/>
            <a:gdLst/>
            <a:ahLst/>
            <a:cxnLst/>
            <a:rect l="l" t="t" r="r" b="b"/>
            <a:pathLst>
              <a:path w="4063501" h="1245413">
                <a:moveTo>
                  <a:pt x="0" y="0"/>
                </a:moveTo>
                <a:lnTo>
                  <a:pt x="4063501" y="0"/>
                </a:lnTo>
                <a:lnTo>
                  <a:pt x="4063501" y="1245413"/>
                </a:lnTo>
                <a:lnTo>
                  <a:pt x="0" y="1245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39864" y="317876"/>
            <a:ext cx="15808454" cy="99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6"/>
              </a:lnSpc>
            </a:pPr>
            <a:r>
              <a:rPr lang="en-US" sz="7800" b="1" spc="-405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Proposed Method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9864" y="1411379"/>
            <a:ext cx="13635139" cy="753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3999" b="1">
                <a:gradFill>
                  <a:gsLst>
                    <a:gs pos="0">
                      <a:srgbClr val="72A5ED">
                        <a:alpha val="100000"/>
                      </a:srgbClr>
                    </a:gs>
                    <a:gs pos="100000">
                      <a:srgbClr val="78D8F6">
                        <a:alpha val="100000"/>
                      </a:srgbClr>
                    </a:gs>
                  </a:gsLst>
                  <a:lin ang="2700000"/>
                </a:gradFill>
                <a:latin typeface="Chakra Petch Bold"/>
                <a:ea typeface="Chakra Petch Bold"/>
                <a:cs typeface="Chakra Petch Bold"/>
                <a:sym typeface="Chakra Petch Bold"/>
              </a:rPr>
              <a:t>Overall System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52000" y="3351806"/>
            <a:ext cx="2607300" cy="41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 b="1" spc="-166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Detect Defects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230752" y="2986299"/>
            <a:ext cx="4917485" cy="2694419"/>
            <a:chOff x="0" y="0"/>
            <a:chExt cx="2082120" cy="11408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82120" cy="1140848"/>
            </a:xfrm>
            <a:custGeom>
              <a:avLst/>
              <a:gdLst/>
              <a:ahLst/>
              <a:cxnLst/>
              <a:rect l="l" t="t" r="r" b="b"/>
              <a:pathLst>
                <a:path w="2082120" h="1140848">
                  <a:moveTo>
                    <a:pt x="192210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980828"/>
                  </a:lnTo>
                  <a:lnTo>
                    <a:pt x="160020" y="1140848"/>
                  </a:lnTo>
                  <a:lnTo>
                    <a:pt x="1922100" y="1140848"/>
                  </a:lnTo>
                  <a:lnTo>
                    <a:pt x="2082120" y="980828"/>
                  </a:lnTo>
                  <a:lnTo>
                    <a:pt x="2082120" y="160020"/>
                  </a:lnTo>
                  <a:lnTo>
                    <a:pt x="19221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" y="25400"/>
              <a:ext cx="1955120" cy="1051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148842" y="-353962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2"/>
                </a:lnTo>
                <a:lnTo>
                  <a:pt x="0" y="12092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804017" y="-2659922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69131" y="2098181"/>
            <a:ext cx="15943845" cy="7572172"/>
            <a:chOff x="0" y="0"/>
            <a:chExt cx="6750809" cy="32061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50809" cy="3206145"/>
            </a:xfrm>
            <a:custGeom>
              <a:avLst/>
              <a:gdLst/>
              <a:ahLst/>
              <a:cxnLst/>
              <a:rect l="l" t="t" r="r" b="b"/>
              <a:pathLst>
                <a:path w="6750809" h="3206145">
                  <a:moveTo>
                    <a:pt x="659078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046125"/>
                  </a:lnTo>
                  <a:lnTo>
                    <a:pt x="160020" y="3206145"/>
                  </a:lnTo>
                  <a:lnTo>
                    <a:pt x="6590789" y="3206145"/>
                  </a:lnTo>
                  <a:lnTo>
                    <a:pt x="6750809" y="3046125"/>
                  </a:lnTo>
                  <a:lnTo>
                    <a:pt x="6750809" y="160020"/>
                  </a:lnTo>
                  <a:lnTo>
                    <a:pt x="6590789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6623809" cy="3117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598964" y="3765315"/>
            <a:ext cx="7809495" cy="2126299"/>
          </a:xfrm>
          <a:custGeom>
            <a:avLst/>
            <a:gdLst/>
            <a:ahLst/>
            <a:cxnLst/>
            <a:rect l="l" t="t" r="r" b="b"/>
            <a:pathLst>
              <a:path w="7809495" h="2126299">
                <a:moveTo>
                  <a:pt x="0" y="0"/>
                </a:moveTo>
                <a:lnTo>
                  <a:pt x="7809495" y="0"/>
                </a:lnTo>
                <a:lnTo>
                  <a:pt x="7809495" y="2126299"/>
                </a:lnTo>
                <a:lnTo>
                  <a:pt x="0" y="2126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88269" y="490461"/>
            <a:ext cx="10057641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-519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 Learning Objective of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3177" y="2351470"/>
            <a:ext cx="15489798" cy="141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5"/>
              </a:lnSpc>
            </a:pPr>
            <a:r>
              <a:rPr lang="en-US" sz="3935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Maximize the likelihood of normal features. </a:t>
            </a:r>
          </a:p>
          <a:p>
            <a:pPr algn="l">
              <a:lnSpc>
                <a:spcPts val="5188"/>
              </a:lnSpc>
            </a:pPr>
            <a:endParaRPr lang="en-US" sz="3935" b="1">
              <a:solidFill>
                <a:srgbClr val="FFFFFF"/>
              </a:solidFill>
              <a:latin typeface="Chakra Petch Bold"/>
              <a:ea typeface="Chakra Petch Bold"/>
              <a:cs typeface="Chakra Petch Bold"/>
              <a:sym typeface="Chakra Petch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69502" y="8510049"/>
            <a:ext cx="15489798" cy="74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5"/>
              </a:lnSpc>
            </a:pPr>
            <a:r>
              <a:rPr lang="en-US" sz="3922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Equivalently, minimize the negative log likelihood.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294601" y="3404460"/>
            <a:ext cx="10174452" cy="4802395"/>
            <a:chOff x="0" y="0"/>
            <a:chExt cx="4307981" cy="2033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7981" cy="2033390"/>
            </a:xfrm>
            <a:custGeom>
              <a:avLst/>
              <a:gdLst/>
              <a:ahLst/>
              <a:cxnLst/>
              <a:rect l="l" t="t" r="r" b="b"/>
              <a:pathLst>
                <a:path w="4307981" h="2033390">
                  <a:moveTo>
                    <a:pt x="4147961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73370"/>
                  </a:lnTo>
                  <a:lnTo>
                    <a:pt x="160020" y="2033390"/>
                  </a:lnTo>
                  <a:lnTo>
                    <a:pt x="4147961" y="2033390"/>
                  </a:lnTo>
                  <a:lnTo>
                    <a:pt x="4307981" y="1873370"/>
                  </a:lnTo>
                  <a:lnTo>
                    <a:pt x="4307981" y="160020"/>
                  </a:lnTo>
                  <a:lnTo>
                    <a:pt x="4147961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00" y="25400"/>
              <a:ext cx="4180981" cy="194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60972" y="6276880"/>
            <a:ext cx="3970569" cy="130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335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Gaussian Likelihood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2330" y="6466444"/>
            <a:ext cx="3970569" cy="130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335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Jacobian</a:t>
            </a:r>
          </a:p>
          <a:p>
            <a:pPr algn="ctr">
              <a:lnSpc>
                <a:spcPts val="5369"/>
              </a:lnSpc>
            </a:pPr>
            <a:r>
              <a:rPr lang="en-US" sz="3335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Determinant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7306003" y="5475974"/>
            <a:ext cx="664175" cy="924732"/>
          </a:xfrm>
          <a:prstGeom prst="line">
            <a:avLst/>
          </a:prstGeom>
          <a:ln w="104775" cap="flat">
            <a:gradFill>
              <a:gsLst>
                <a:gs pos="0">
                  <a:srgbClr val="72A5ED">
                    <a:alpha val="100000"/>
                  </a:srgbClr>
                </a:gs>
                <a:gs pos="100000">
                  <a:srgbClr val="78D8F6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flipH="1" flipV="1">
            <a:off x="10246628" y="5602808"/>
            <a:ext cx="196641" cy="831003"/>
          </a:xfrm>
          <a:prstGeom prst="line">
            <a:avLst/>
          </a:prstGeom>
          <a:ln w="104775" cap="flat">
            <a:gradFill>
              <a:gsLst>
                <a:gs pos="0">
                  <a:srgbClr val="72A5ED">
                    <a:alpha val="100000"/>
                  </a:srgbClr>
                </a:gs>
                <a:gs pos="100000">
                  <a:srgbClr val="78D8F6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876137" y="261861"/>
            <a:ext cx="4031469" cy="153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9"/>
              </a:lnSpc>
            </a:pPr>
            <a:r>
              <a:rPr lang="en-US" sz="9999" b="1" spc="-519">
                <a:solidFill>
                  <a:srgbClr val="78D8F6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CS-Flow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563586" y="-1307341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28049" y="1854596"/>
            <a:ext cx="13125598" cy="153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9"/>
              </a:lnSpc>
            </a:pPr>
            <a:r>
              <a:rPr lang="en-US" sz="9999" b="1" spc="-519">
                <a:solidFill>
                  <a:srgbClr val="78D8F6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Than Existing Methods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9377" y="610665"/>
            <a:ext cx="14216314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-519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Why CS-Flow Is More Efficient   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50637" y="4242066"/>
            <a:ext cx="11625627" cy="4650146"/>
            <a:chOff x="0" y="0"/>
            <a:chExt cx="4922425" cy="19689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22426" cy="1968926"/>
            </a:xfrm>
            <a:custGeom>
              <a:avLst/>
              <a:gdLst/>
              <a:ahLst/>
              <a:cxnLst/>
              <a:rect l="l" t="t" r="r" b="b"/>
              <a:pathLst>
                <a:path w="4922426" h="1968926">
                  <a:moveTo>
                    <a:pt x="476240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08906"/>
                  </a:lnTo>
                  <a:lnTo>
                    <a:pt x="160020" y="1968926"/>
                  </a:lnTo>
                  <a:lnTo>
                    <a:pt x="4762405" y="1968926"/>
                  </a:lnTo>
                  <a:lnTo>
                    <a:pt x="4922426" y="1808906"/>
                  </a:lnTo>
                  <a:lnTo>
                    <a:pt x="4922426" y="160020"/>
                  </a:lnTo>
                  <a:lnTo>
                    <a:pt x="4762405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00" y="25400"/>
              <a:ext cx="4795425" cy="1880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44807" y="4429562"/>
            <a:ext cx="8848973" cy="352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46" lvl="1" indent="-474973" algn="l">
              <a:lnSpc>
                <a:spcPts val="7083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Multi-scale Feature Extraction</a:t>
            </a:r>
          </a:p>
          <a:p>
            <a:pPr marL="949946" lvl="1" indent="-474973" algn="l">
              <a:lnSpc>
                <a:spcPts val="7083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Preservation of Spatial Information</a:t>
            </a:r>
          </a:p>
          <a:p>
            <a:pPr marL="949946" lvl="1" indent="-474973" algn="l">
              <a:lnSpc>
                <a:spcPts val="7083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Reduced Parameter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595113" y="-2057400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1" y="0"/>
                </a:lnTo>
                <a:lnTo>
                  <a:pt x="7184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80707" y="3009143"/>
            <a:ext cx="8163293" cy="5525545"/>
            <a:chOff x="0" y="0"/>
            <a:chExt cx="3456433" cy="23395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56433" cy="2339580"/>
            </a:xfrm>
            <a:custGeom>
              <a:avLst/>
              <a:gdLst/>
              <a:ahLst/>
              <a:cxnLst/>
              <a:rect l="l" t="t" r="r" b="b"/>
              <a:pathLst>
                <a:path w="3456433" h="2339580">
                  <a:moveTo>
                    <a:pt x="329641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79560"/>
                  </a:lnTo>
                  <a:lnTo>
                    <a:pt x="160020" y="2339580"/>
                  </a:lnTo>
                  <a:lnTo>
                    <a:pt x="3296413" y="2339580"/>
                  </a:lnTo>
                  <a:lnTo>
                    <a:pt x="3456433" y="2179560"/>
                  </a:lnTo>
                  <a:lnTo>
                    <a:pt x="3456433" y="160020"/>
                  </a:lnTo>
                  <a:lnTo>
                    <a:pt x="3296413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95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FFFFFF">
                      <a:alpha val="48000"/>
                    </a:srgbClr>
                  </a:gs>
                  <a:gs pos="100000">
                    <a:srgbClr val="FFFFFF">
                      <a:alpha val="48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25400"/>
              <a:ext cx="3329433" cy="2250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703548" y="2754397"/>
            <a:ext cx="7844645" cy="6265786"/>
          </a:xfrm>
          <a:custGeom>
            <a:avLst/>
            <a:gdLst/>
            <a:ahLst/>
            <a:cxnLst/>
            <a:rect l="l" t="t" r="r" b="b"/>
            <a:pathLst>
              <a:path w="7844645" h="6265786">
                <a:moveTo>
                  <a:pt x="0" y="0"/>
                </a:moveTo>
                <a:lnTo>
                  <a:pt x="7844645" y="0"/>
                </a:lnTo>
                <a:lnTo>
                  <a:pt x="7844645" y="6265786"/>
                </a:lnTo>
                <a:lnTo>
                  <a:pt x="0" y="6265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97173" y="1054427"/>
            <a:ext cx="9853963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1" spc="-519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 Experiment Setting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8943" y="3445019"/>
            <a:ext cx="7633844" cy="450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5634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Datasets:</a:t>
            </a:r>
            <a:r>
              <a:rPr lang="en-US" sz="34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MVTec AD and MTD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Feature Extractor:</a:t>
            </a: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EfficientNet-B5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Number of Feature Scales:</a:t>
            </a: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3</a:t>
            </a:r>
          </a:p>
          <a:p>
            <a:pPr marL="712462" lvl="1" indent="-356231" algn="l">
              <a:lnSpc>
                <a:spcPts val="5312"/>
              </a:lnSpc>
              <a:buFont typeface="Arial"/>
              <a:buChar char="•"/>
            </a:pPr>
            <a:r>
              <a:rPr lang="en-US" sz="3299" b="1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Training Epochs:</a:t>
            </a:r>
          </a:p>
          <a:p>
            <a:pPr marL="1424924" lvl="2" indent="-474975" algn="l">
              <a:lnSpc>
                <a:spcPts val="5312"/>
              </a:lnSpc>
              <a:buFont typeface="Arial"/>
              <a:buChar char="⚬"/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MVTec AD: 240 epochs</a:t>
            </a:r>
          </a:p>
          <a:p>
            <a:pPr marL="1424924" lvl="2" indent="-474975" algn="l">
              <a:lnSpc>
                <a:spcPts val="5312"/>
              </a:lnSpc>
              <a:buFont typeface="Arial"/>
              <a:buChar char="⚬"/>
            </a:pPr>
            <a:r>
              <a:rPr lang="en-US" sz="32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MTD: 60 epochs</a:t>
            </a:r>
          </a:p>
          <a:p>
            <a:pPr algn="l">
              <a:lnSpc>
                <a:spcPts val="3702"/>
              </a:lnSpc>
            </a:pPr>
            <a:endParaRPr lang="en-US" sz="3299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97565" y="-3690075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423138">
            <a:off x="-8900906" y="2488437"/>
            <a:ext cx="13827186" cy="12092503"/>
          </a:xfrm>
          <a:custGeom>
            <a:avLst/>
            <a:gdLst/>
            <a:ahLst/>
            <a:cxnLst/>
            <a:rect l="l" t="t" r="r" b="b"/>
            <a:pathLst>
              <a:path w="13827186" h="12092503">
                <a:moveTo>
                  <a:pt x="0" y="0"/>
                </a:moveTo>
                <a:lnTo>
                  <a:pt x="13827186" y="0"/>
                </a:lnTo>
                <a:lnTo>
                  <a:pt x="13827186" y="12092503"/>
                </a:lnTo>
                <a:lnTo>
                  <a:pt x="0" y="12092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595113" y="-2057400"/>
            <a:ext cx="7184571" cy="4114800"/>
          </a:xfrm>
          <a:custGeom>
            <a:avLst/>
            <a:gdLst/>
            <a:ahLst/>
            <a:cxnLst/>
            <a:rect l="l" t="t" r="r" b="b"/>
            <a:pathLst>
              <a:path w="7184571" h="4114800">
                <a:moveTo>
                  <a:pt x="0" y="0"/>
                </a:moveTo>
                <a:lnTo>
                  <a:pt x="7184571" y="0"/>
                </a:lnTo>
                <a:lnTo>
                  <a:pt x="7184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106294">
            <a:off x="15736586" y="7867197"/>
            <a:ext cx="4130154" cy="4114800"/>
          </a:xfrm>
          <a:custGeom>
            <a:avLst/>
            <a:gdLst/>
            <a:ahLst/>
            <a:cxnLst/>
            <a:rect l="l" t="t" r="r" b="b"/>
            <a:pathLst>
              <a:path w="4130154" h="4114800">
                <a:moveTo>
                  <a:pt x="0" y="0"/>
                </a:moveTo>
                <a:lnTo>
                  <a:pt x="4130154" y="0"/>
                </a:lnTo>
                <a:lnTo>
                  <a:pt x="4130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-6117"/>
            <a:ext cx="18288000" cy="10293117"/>
          </a:xfrm>
          <a:custGeom>
            <a:avLst/>
            <a:gdLst/>
            <a:ahLst/>
            <a:cxnLst/>
            <a:rect l="l" t="t" r="r" b="b"/>
            <a:pathLst>
              <a:path w="18288000" h="10293117">
                <a:moveTo>
                  <a:pt x="0" y="0"/>
                </a:moveTo>
                <a:lnTo>
                  <a:pt x="18288000" y="0"/>
                </a:lnTo>
                <a:lnTo>
                  <a:pt x="18288000" y="10293117"/>
                </a:lnTo>
                <a:lnTo>
                  <a:pt x="0" y="10293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</a:blip>
            <a:stretch>
              <a:fillRect l="-4670" r="-26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65658" y="2613352"/>
            <a:ext cx="9853963" cy="156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11999" b="1" spc="-623">
                <a:solidFill>
                  <a:srgbClr val="FFFFFF"/>
                </a:solidFill>
                <a:latin typeface="TT Supermolot Condensed Bold"/>
                <a:ea typeface="TT Supermolot Condensed Bold"/>
                <a:cs typeface="TT Supermolot Condensed Bold"/>
                <a:sym typeface="TT Supermolot Condensed Bold"/>
              </a:rPr>
              <a:t>Questions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2071" y="7386424"/>
            <a:ext cx="5229370" cy="1228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6399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</Words>
  <Application>Microsoft Office PowerPoint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Chakra Petch</vt:lpstr>
      <vt:lpstr>TT Supermolot Condensed Bold</vt:lpstr>
      <vt:lpstr>Arial</vt:lpstr>
      <vt:lpstr>Chakra Petch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Futuristic Technology Presentation</dc:title>
  <cp:lastModifiedBy>Tharusha Nimesh</cp:lastModifiedBy>
  <cp:revision>2</cp:revision>
  <dcterms:created xsi:type="dcterms:W3CDTF">2006-08-16T00:00:00Z</dcterms:created>
  <dcterms:modified xsi:type="dcterms:W3CDTF">2026-09-08T08:12:37Z</dcterms:modified>
  <dc:identifier>DAHUNGqHvTQ</dc:identifier>
</cp:coreProperties>
</file>